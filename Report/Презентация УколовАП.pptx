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97" r:id="rId2"/>
    <p:sldId id="257" r:id="rId3"/>
    <p:sldId id="264" r:id="rId4"/>
    <p:sldId id="298" r:id="rId5"/>
    <p:sldId id="290" r:id="rId6"/>
    <p:sldId id="299" r:id="rId7"/>
    <p:sldId id="300" r:id="rId8"/>
    <p:sldId id="301" r:id="rId9"/>
    <p:sldId id="302" r:id="rId10"/>
    <p:sldId id="303" r:id="rId11"/>
    <p:sldId id="30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ульская Ева" initials="КЕ" lastIdx="1" clrIdx="0">
    <p:extLst>
      <p:ext uri="{19B8F6BF-5375-455C-9EA6-DF929625EA0E}">
        <p15:presenceInfo xmlns="" xmlns:p15="http://schemas.microsoft.com/office/powerpoint/2012/main" userId="e78ce9aa2ff8bf6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935" autoAdjust="0"/>
    <p:restoredTop sz="94712" autoAdjust="0"/>
  </p:normalViewPr>
  <p:slideViewPr>
    <p:cSldViewPr snapToGrid="0">
      <p:cViewPr varScale="1">
        <p:scale>
          <a:sx n="65" d="100"/>
          <a:sy n="65" d="100"/>
        </p:scale>
        <p:origin x="-81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pPr/>
              <a:t>27.06.2025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pPr/>
              <a:t>27.06.2025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949CBE03-2ADF-450F-9675-03EC256F65AF}"/>
              </a:ext>
            </a:extLst>
          </p:cNvPr>
          <p:cNvSpPr/>
          <p:nvPr userDrawn="1"/>
        </p:nvSpPr>
        <p:spPr>
          <a:xfrm>
            <a:off x="11031795" y="-707922"/>
            <a:ext cx="1710812" cy="8554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45FEC3FF-D2E9-481A-ACBC-53AC48521444}"/>
              </a:ext>
            </a:extLst>
          </p:cNvPr>
          <p:cNvSpPr/>
          <p:nvPr userDrawn="1"/>
        </p:nvSpPr>
        <p:spPr>
          <a:xfrm rot="16200000">
            <a:off x="4231790" y="-2496651"/>
            <a:ext cx="90486" cy="8554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pPr/>
              <a:t>27.06.2025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541A6785-23BF-4FE0-B9C7-4E3C5F7F6B19}"/>
              </a:ext>
            </a:extLst>
          </p:cNvPr>
          <p:cNvSpPr/>
          <p:nvPr userDrawn="1"/>
        </p:nvSpPr>
        <p:spPr>
          <a:xfrm>
            <a:off x="8966200" y="-707922"/>
            <a:ext cx="3225800" cy="8554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="" xmlns:a16="http://schemas.microsoft.com/office/drawing/2014/main" id="{B394F0B6-9856-44D2-9805-66B694DE2C26}"/>
              </a:ext>
            </a:extLst>
          </p:cNvPr>
          <p:cNvSpPr/>
          <p:nvPr userDrawn="1"/>
        </p:nvSpPr>
        <p:spPr>
          <a:xfrm>
            <a:off x="-368299" y="4686300"/>
            <a:ext cx="2578100" cy="25781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="" xmlns:a16="http://schemas.microsoft.com/office/drawing/2014/main" id="{70D0A806-BB3B-4E85-8C57-B9B390906F6A}"/>
              </a:ext>
            </a:extLst>
          </p:cNvPr>
          <p:cNvSpPr/>
          <p:nvPr userDrawn="1"/>
        </p:nvSpPr>
        <p:spPr>
          <a:xfrm>
            <a:off x="-187325" y="5659439"/>
            <a:ext cx="1381125" cy="138112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FE49146E-E334-4E17-96BB-AEB6B0141397}"/>
              </a:ext>
            </a:extLst>
          </p:cNvPr>
          <p:cNvSpPr/>
          <p:nvPr userDrawn="1"/>
        </p:nvSpPr>
        <p:spPr>
          <a:xfrm>
            <a:off x="9118600" y="-555523"/>
            <a:ext cx="3225800" cy="85540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pPr/>
              <a:t>27.06.2025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pPr/>
              <a:t>27.06.2025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pPr/>
              <a:t>27.06.2025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pPr/>
              <a:t>27.06.2025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pPr/>
              <a:t>27.06.2025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pPr/>
              <a:t>27.06.2025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pPr/>
              <a:t>27.06.2025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5CFB-1053-4ABD-8AE7-93CBC6C0D1C1}" type="datetimeFigureOut">
              <a:rPr lang="ru-RU" smtClean="0"/>
              <a:pPr/>
              <a:t>27.06.2025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DCB5CFB-1053-4ABD-8AE7-93CBC6C0D1C1}" type="datetimeFigureOut">
              <a:rPr lang="ru-RU" smtClean="0"/>
              <a:pPr/>
              <a:t>27.06.2025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58A1B2D-D15D-440D-8A9B-646BA581E9FF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  <p:pic>
        <p:nvPicPr>
          <p:cNvPr id="14" name="Рисунок 13">
            <a:hlinkClick r:id="rId13"/>
            <a:extLst>
              <a:ext uri="{FF2B5EF4-FFF2-40B4-BE49-F238E27FC236}">
                <a16:creationId xmlns="" xmlns:a16="http://schemas.microsoft.com/office/drawing/2014/main" id="{A3D3FC47-1965-4ADE-8DCB-5A97BFA1FA8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3" cy="757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ransition spd="med">
    <p:fad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D09C11F-D77B-563E-6964-5FC1BF2685BC}"/>
              </a:ext>
            </a:extLst>
          </p:cNvPr>
          <p:cNvSpPr txBox="1"/>
          <p:nvPr/>
        </p:nvSpPr>
        <p:spPr>
          <a:xfrm>
            <a:off x="4291780" y="2344995"/>
            <a:ext cx="69013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/>
              <a:t>Разработка </a:t>
            </a:r>
            <a:r>
              <a:rPr lang="ru-RU" sz="4400" b="1" dirty="0" smtClean="0"/>
              <a:t>игры в жанре 2</a:t>
            </a:r>
            <a:r>
              <a:rPr lang="en-US" sz="4400" b="1" dirty="0" smtClean="0"/>
              <a:t>D</a:t>
            </a:r>
            <a:r>
              <a:rPr lang="ru-RU" sz="4400" b="1" dirty="0" smtClean="0"/>
              <a:t>-</a:t>
            </a:r>
            <a:r>
              <a:rPr lang="ru-RU" sz="4400" b="1" dirty="0" err="1" smtClean="0"/>
              <a:t>платформера</a:t>
            </a:r>
            <a:endParaRPr lang="ru-RU" sz="4400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E36671C-13B7-58DD-3A5A-C1F5BA7A4908}"/>
              </a:ext>
            </a:extLst>
          </p:cNvPr>
          <p:cNvSpPr txBox="1"/>
          <p:nvPr/>
        </p:nvSpPr>
        <p:spPr>
          <a:xfrm>
            <a:off x="8490761" y="4291768"/>
            <a:ext cx="3002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Исполнители: </a:t>
            </a:r>
          </a:p>
          <a:p>
            <a:pPr algn="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Уколов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Александр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Петрович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6858A18E-CD5A-BE31-DF1E-4AD9799B5A76}"/>
              </a:ext>
            </a:extLst>
          </p:cNvPr>
          <p:cNvSpPr txBox="1"/>
          <p:nvPr/>
        </p:nvSpPr>
        <p:spPr>
          <a:xfrm>
            <a:off x="5342009" y="5938777"/>
            <a:ext cx="1490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Барнаул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4477564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7CC7DC2-12CF-4928-A4E4-8D979EAE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12" y="346466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ель проекта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17E72134-208E-4A25-B10D-1D5493B35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16" y="1889939"/>
            <a:ext cx="9691395" cy="4351338"/>
          </a:xfrm>
        </p:spPr>
        <p:txBody>
          <a:bodyPr numCol="1">
            <a:normAutofit/>
          </a:bodyPr>
          <a:lstStyle/>
          <a:p>
            <a:pPr algn="just"/>
            <a:r>
              <a:rPr lang="ru-RU" sz="3200" dirty="0" smtClean="0"/>
              <a:t>Разработать 2</a:t>
            </a:r>
            <a:r>
              <a:rPr lang="en-US" sz="3200" dirty="0" smtClean="0"/>
              <a:t>D</a:t>
            </a:r>
            <a:r>
              <a:rPr lang="ru-RU" sz="3200" dirty="0" smtClean="0"/>
              <a:t> </a:t>
            </a:r>
            <a:r>
              <a:rPr lang="ru-RU" sz="3200" dirty="0" err="1" smtClean="0"/>
              <a:t>платформер</a:t>
            </a:r>
            <a:r>
              <a:rPr lang="ru-RU" sz="3200" dirty="0" smtClean="0"/>
              <a:t> в жанре </a:t>
            </a:r>
            <a:r>
              <a:rPr lang="ru-RU" sz="3200" dirty="0" err="1" smtClean="0"/>
              <a:t>метроидвания</a:t>
            </a:r>
            <a:r>
              <a:rPr lang="ru-RU" sz="3200" dirty="0" smtClean="0"/>
              <a:t>, вдохновлённый механиками и стилем игры </a:t>
            </a:r>
            <a:r>
              <a:rPr lang="en-US" sz="3200" dirty="0" err="1" smtClean="0"/>
              <a:t>Spelunky</a:t>
            </a:r>
            <a:r>
              <a:rPr lang="ru-RU" sz="3200" dirty="0" smtClean="0"/>
              <a:t>. Итоговым результатом должен стать </a:t>
            </a:r>
            <a:r>
              <a:rPr lang="ru-RU" sz="3200" dirty="0" err="1" smtClean="0"/>
              <a:t>играбельный</a:t>
            </a:r>
            <a:r>
              <a:rPr lang="ru-RU" sz="3200" dirty="0" smtClean="0"/>
              <a:t> прототип.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9350491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7FEA663-ED93-415C-AE74-0ADE94E33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75" y="328630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itchFamily="18" charset="0"/>
                <a:cs typeface="Times New Roman" pitchFamily="18" charset="0"/>
              </a:rPr>
              <a:t>Задачи проекта</a:t>
            </a:r>
          </a:p>
        </p:txBody>
      </p:sp>
      <p:sp>
        <p:nvSpPr>
          <p:cNvPr id="14" name="Содержимое 13"/>
          <p:cNvSpPr>
            <a:spLocks noGrp="1"/>
          </p:cNvSpPr>
          <p:nvPr>
            <p:ph idx="1"/>
          </p:nvPr>
        </p:nvSpPr>
        <p:spPr>
          <a:xfrm>
            <a:off x="609601" y="2249424"/>
            <a:ext cx="10304207" cy="4325112"/>
          </a:xfrm>
        </p:spPr>
        <p:txBody>
          <a:bodyPr>
            <a:normAutofit/>
          </a:bodyPr>
          <a:lstStyle/>
          <a:p>
            <a:pPr lvl="0"/>
            <a:r>
              <a:rPr lang="ru-RU" dirty="0" smtClean="0"/>
              <a:t>Реализация ядровых механик. Настроить 2D-проект в </a:t>
            </a:r>
            <a:r>
              <a:rPr lang="ru-RU" dirty="0" err="1" smtClean="0"/>
              <a:t>Unity</a:t>
            </a:r>
            <a:r>
              <a:rPr lang="ru-RU" dirty="0" smtClean="0"/>
              <a:t>, реализовать управление персонажем (движение, прыжки, атаки), настроить камеру, следующую за игроком.</a:t>
            </a:r>
          </a:p>
          <a:p>
            <a:pPr lvl="0"/>
            <a:r>
              <a:rPr lang="ru-RU" dirty="0" smtClean="0"/>
              <a:t>Создание системы уровней. Создание связанной карты, настройка перехода между локациями, дизайн уровней.</a:t>
            </a:r>
          </a:p>
          <a:p>
            <a:pPr lvl="0"/>
            <a:r>
              <a:rPr lang="ru-RU" dirty="0" smtClean="0"/>
              <a:t>Реализация </a:t>
            </a:r>
            <a:r>
              <a:rPr lang="ru-RU" dirty="0" err="1" smtClean="0"/>
              <a:t>ИИ-противников</a:t>
            </a:r>
            <a:r>
              <a:rPr lang="ru-RU" dirty="0" smtClean="0"/>
              <a:t>. Создать несколько типов врагов, использующих оптимальные маршруты для преследования игрока (интеграция с </a:t>
            </a:r>
            <a:r>
              <a:rPr lang="en-US" dirty="0" smtClean="0"/>
              <a:t>A</a:t>
            </a:r>
            <a:r>
              <a:rPr lang="ru-RU" dirty="0" smtClean="0"/>
              <a:t>* </a:t>
            </a:r>
            <a:r>
              <a:rPr lang="en-US" dirty="0" err="1" smtClean="0"/>
              <a:t>Pathfinding</a:t>
            </a:r>
            <a:r>
              <a:rPr lang="en-US" dirty="0" smtClean="0"/>
              <a:t> Project</a:t>
            </a:r>
            <a:r>
              <a:rPr lang="ru-RU" dirty="0" smtClean="0"/>
              <a:t>).</a:t>
            </a:r>
          </a:p>
          <a:p>
            <a:pPr lvl="0"/>
            <a:r>
              <a:rPr lang="ru-RU" dirty="0" smtClean="0"/>
              <a:t>Протестировать продукт и подготовить отчет и </a:t>
            </a:r>
            <a:r>
              <a:rPr lang="ru-RU" dirty="0" err="1" smtClean="0"/>
              <a:t>видеопрезентацию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05412065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7FEA663-ED93-415C-AE74-0ADE94E33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75" y="328630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Актуальность проекта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Содержимое 13"/>
          <p:cNvSpPr>
            <a:spLocks noGrp="1"/>
          </p:cNvSpPr>
          <p:nvPr>
            <p:ph idx="1"/>
          </p:nvPr>
        </p:nvSpPr>
        <p:spPr>
          <a:xfrm>
            <a:off x="609601" y="2249424"/>
            <a:ext cx="10304207" cy="4325112"/>
          </a:xfrm>
        </p:spPr>
        <p:txBody>
          <a:bodyPr>
            <a:normAutofit/>
          </a:bodyPr>
          <a:lstStyle/>
          <a:p>
            <a:r>
              <a:rPr lang="ru-RU" dirty="0" smtClean="0"/>
              <a:t>Актуальность разработки компьютерной игры в жанре 2D </a:t>
            </a:r>
            <a:r>
              <a:rPr lang="ru-RU" dirty="0" err="1" smtClean="0"/>
              <a:t>платформера</a:t>
            </a:r>
            <a:r>
              <a:rPr lang="ru-RU" dirty="0" smtClean="0"/>
              <a:t> с элементами </a:t>
            </a:r>
            <a:r>
              <a:rPr lang="ru-RU" dirty="0" err="1" smtClean="0"/>
              <a:t>метроидвании</a:t>
            </a:r>
            <a:r>
              <a:rPr lang="ru-RU" dirty="0" smtClean="0"/>
              <a:t> обусловлена рядом факторов, отражающих современные тенденции мирового и российского рынка интерактивных развлечений.</a:t>
            </a:r>
          </a:p>
          <a:p>
            <a:r>
              <a:rPr lang="en-US" dirty="0" err="1" smtClean="0"/>
              <a:t>Жанр</a:t>
            </a:r>
            <a:r>
              <a:rPr lang="en-US" dirty="0" smtClean="0"/>
              <a:t> </a:t>
            </a:r>
            <a:r>
              <a:rPr lang="en-US" dirty="0" err="1" smtClean="0"/>
              <a:t>метроидвания</a:t>
            </a:r>
            <a:r>
              <a:rPr lang="en-US" dirty="0" smtClean="0"/>
              <a:t> </a:t>
            </a:r>
            <a:r>
              <a:rPr lang="en-US" dirty="0" err="1" smtClean="0"/>
              <a:t>традиционно</a:t>
            </a:r>
            <a:r>
              <a:rPr lang="en-US" dirty="0" smtClean="0"/>
              <a:t> </a:t>
            </a:r>
            <a:r>
              <a:rPr lang="en-US" dirty="0" err="1" smtClean="0"/>
              <a:t>привлекает</a:t>
            </a:r>
            <a:r>
              <a:rPr lang="en-US" dirty="0" smtClean="0"/>
              <a:t> </a:t>
            </a:r>
            <a:r>
              <a:rPr lang="en-US" dirty="0" err="1" smtClean="0"/>
              <a:t>внимание</a:t>
            </a:r>
            <a:r>
              <a:rPr lang="en-US" dirty="0" smtClean="0"/>
              <a:t> </a:t>
            </a:r>
            <a:r>
              <a:rPr lang="en-US" dirty="0" err="1" smtClean="0"/>
              <a:t>игроков</a:t>
            </a:r>
            <a:r>
              <a:rPr lang="en-US" dirty="0" smtClean="0"/>
              <a:t> </a:t>
            </a:r>
            <a:r>
              <a:rPr lang="en-US" dirty="0" err="1" smtClean="0"/>
              <a:t>глубоким</a:t>
            </a:r>
            <a:r>
              <a:rPr lang="en-US" dirty="0" smtClean="0"/>
              <a:t> </a:t>
            </a:r>
            <a:r>
              <a:rPr lang="en-US" dirty="0" err="1" smtClean="0"/>
              <a:t>исследованием</a:t>
            </a:r>
            <a:r>
              <a:rPr lang="en-US" dirty="0" smtClean="0"/>
              <a:t> </a:t>
            </a:r>
            <a:r>
              <a:rPr lang="en-US" dirty="0" err="1" smtClean="0"/>
              <a:t>мира</a:t>
            </a:r>
            <a:r>
              <a:rPr lang="en-US" dirty="0" smtClean="0"/>
              <a:t> и </a:t>
            </a:r>
            <a:r>
              <a:rPr lang="en-US" dirty="0" err="1" smtClean="0"/>
              <a:t>развитием</a:t>
            </a:r>
            <a:r>
              <a:rPr lang="en-US" dirty="0" smtClean="0"/>
              <a:t> </a:t>
            </a:r>
            <a:r>
              <a:rPr lang="en-US" dirty="0" err="1" smtClean="0"/>
              <a:t>персонажа</a:t>
            </a:r>
            <a:r>
              <a:rPr lang="en-US" dirty="0" smtClean="0"/>
              <a:t>, </a:t>
            </a:r>
            <a:r>
              <a:rPr lang="en-US" dirty="0" err="1" smtClean="0"/>
              <a:t>что</a:t>
            </a:r>
            <a:r>
              <a:rPr lang="en-US" dirty="0" smtClean="0"/>
              <a:t> </a:t>
            </a:r>
            <a:r>
              <a:rPr lang="en-US" dirty="0" err="1" smtClean="0"/>
              <a:t>способствует</a:t>
            </a:r>
            <a:r>
              <a:rPr lang="en-US" dirty="0" smtClean="0"/>
              <a:t> </a:t>
            </a:r>
            <a:r>
              <a:rPr lang="en-US" dirty="0" err="1" smtClean="0"/>
              <a:t>формированию</a:t>
            </a:r>
            <a:r>
              <a:rPr lang="en-US" dirty="0" smtClean="0"/>
              <a:t> у </a:t>
            </a:r>
            <a:r>
              <a:rPr lang="en-US" dirty="0" err="1" smtClean="0"/>
              <a:t>пользователей</a:t>
            </a:r>
            <a:r>
              <a:rPr lang="en-US" dirty="0" smtClean="0"/>
              <a:t> </a:t>
            </a:r>
            <a:r>
              <a:rPr lang="en-US" dirty="0" err="1" smtClean="0"/>
              <a:t>навыков</a:t>
            </a:r>
            <a:r>
              <a:rPr lang="en-US" dirty="0" smtClean="0"/>
              <a:t> </a:t>
            </a:r>
            <a:r>
              <a:rPr lang="en-US" dirty="0" err="1" smtClean="0"/>
              <a:t>стратегического</a:t>
            </a:r>
            <a:r>
              <a:rPr lang="en-US" dirty="0" smtClean="0"/>
              <a:t> </a:t>
            </a:r>
            <a:r>
              <a:rPr lang="en-US" dirty="0" err="1" smtClean="0"/>
              <a:t>мышления</a:t>
            </a:r>
            <a:r>
              <a:rPr lang="en-US" dirty="0" smtClean="0"/>
              <a:t>, </a:t>
            </a:r>
            <a:r>
              <a:rPr lang="en-US" dirty="0" err="1" smtClean="0"/>
              <a:t>планирования</a:t>
            </a:r>
            <a:r>
              <a:rPr lang="en-US" dirty="0" smtClean="0"/>
              <a:t> и </a:t>
            </a:r>
            <a:r>
              <a:rPr lang="en-US" dirty="0" err="1" smtClean="0"/>
              <a:t>решения</a:t>
            </a:r>
            <a:r>
              <a:rPr lang="en-US" dirty="0" smtClean="0"/>
              <a:t> </a:t>
            </a:r>
            <a:r>
              <a:rPr lang="en-US" dirty="0" err="1" smtClean="0"/>
              <a:t>задач</a:t>
            </a:r>
            <a:r>
              <a:rPr lang="en-US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05412065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4349" y="523568"/>
            <a:ext cx="10318955" cy="1066800"/>
          </a:xfrm>
        </p:spPr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Востребованность проекта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609600" y="1983661"/>
            <a:ext cx="9956800" cy="4525963"/>
          </a:xfrm>
        </p:spPr>
        <p:txBody>
          <a:bodyPr/>
          <a:lstStyle/>
          <a:p>
            <a:r>
              <a:rPr lang="en-US" dirty="0" err="1" smtClean="0"/>
              <a:t>Минимально</a:t>
            </a:r>
            <a:r>
              <a:rPr lang="en-US" dirty="0" smtClean="0"/>
              <a:t> </a:t>
            </a:r>
            <a:r>
              <a:rPr lang="en-US" dirty="0" err="1" smtClean="0"/>
              <a:t>жизнеспособная</a:t>
            </a:r>
            <a:r>
              <a:rPr lang="en-US" dirty="0" smtClean="0"/>
              <a:t> </a:t>
            </a:r>
            <a:r>
              <a:rPr lang="en-US" dirty="0" err="1" smtClean="0"/>
              <a:t>версия</a:t>
            </a:r>
            <a:r>
              <a:rPr lang="en-US" dirty="0" smtClean="0"/>
              <a:t> </a:t>
            </a:r>
            <a:r>
              <a:rPr lang="en-US" dirty="0" err="1" smtClean="0"/>
              <a:t>проекта</a:t>
            </a:r>
            <a:r>
              <a:rPr lang="en-US" dirty="0" smtClean="0"/>
              <a:t> </a:t>
            </a:r>
            <a:r>
              <a:rPr lang="en-US" dirty="0" err="1" smtClean="0"/>
              <a:t>может</a:t>
            </a:r>
            <a:r>
              <a:rPr lang="en-US" dirty="0" smtClean="0"/>
              <a:t> </a:t>
            </a:r>
            <a:r>
              <a:rPr lang="en-US" dirty="0" err="1" smtClean="0"/>
              <a:t>служить</a:t>
            </a:r>
            <a:r>
              <a:rPr lang="en-US" dirty="0" smtClean="0"/>
              <a:t> </a:t>
            </a:r>
            <a:r>
              <a:rPr lang="en-US" dirty="0" err="1" smtClean="0"/>
              <a:t>учебным</a:t>
            </a:r>
            <a:r>
              <a:rPr lang="en-US" dirty="0" smtClean="0"/>
              <a:t> </a:t>
            </a:r>
            <a:r>
              <a:rPr lang="en-US" dirty="0" err="1" smtClean="0"/>
              <a:t>материалом</a:t>
            </a:r>
            <a:r>
              <a:rPr lang="en-US" dirty="0" smtClean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 err="1" smtClean="0"/>
              <a:t>студентов</a:t>
            </a:r>
            <a:r>
              <a:rPr lang="en-US" dirty="0" smtClean="0"/>
              <a:t> и </a:t>
            </a:r>
            <a:r>
              <a:rPr lang="en-US" dirty="0" err="1" smtClean="0"/>
              <a:t>начинающих</a:t>
            </a:r>
            <a:r>
              <a:rPr lang="en-US" dirty="0" smtClean="0"/>
              <a:t> </a:t>
            </a:r>
            <a:r>
              <a:rPr lang="en-US" dirty="0" err="1" smtClean="0"/>
              <a:t>разработчиков</a:t>
            </a:r>
            <a:r>
              <a:rPr lang="en-US" dirty="0" smtClean="0"/>
              <a:t>, </a:t>
            </a:r>
            <a:r>
              <a:rPr lang="en-US" dirty="0" err="1" smtClean="0"/>
              <a:t>иллюстрируя</a:t>
            </a:r>
            <a:r>
              <a:rPr lang="en-US" dirty="0" smtClean="0"/>
              <a:t> </a:t>
            </a:r>
            <a:r>
              <a:rPr lang="en-US" dirty="0" err="1" smtClean="0"/>
              <a:t>практическое</a:t>
            </a:r>
            <a:r>
              <a:rPr lang="en-US" dirty="0" smtClean="0"/>
              <a:t> </a:t>
            </a:r>
            <a:r>
              <a:rPr lang="en-US" dirty="0" err="1" smtClean="0"/>
              <a:t>применение</a:t>
            </a:r>
            <a:r>
              <a:rPr lang="en-US" dirty="0" smtClean="0"/>
              <a:t> </a:t>
            </a:r>
            <a:r>
              <a:rPr lang="en-US" dirty="0" err="1" smtClean="0"/>
              <a:t>алгоритмов</a:t>
            </a:r>
            <a:r>
              <a:rPr lang="en-US" dirty="0" smtClean="0"/>
              <a:t> </a:t>
            </a:r>
            <a:r>
              <a:rPr lang="en-US" dirty="0" err="1" smtClean="0"/>
              <a:t>навигации</a:t>
            </a:r>
            <a:r>
              <a:rPr lang="en-US" dirty="0" smtClean="0"/>
              <a:t>, </a:t>
            </a:r>
            <a:r>
              <a:rPr lang="en-US" dirty="0" err="1" smtClean="0"/>
              <a:t>проектирование</a:t>
            </a:r>
            <a:r>
              <a:rPr lang="en-US" dirty="0" smtClean="0"/>
              <a:t> </a:t>
            </a:r>
            <a:r>
              <a:rPr lang="en-US" dirty="0" err="1" smtClean="0"/>
              <a:t>уровней</a:t>
            </a:r>
            <a:r>
              <a:rPr lang="en-US" dirty="0" smtClean="0"/>
              <a:t> и </a:t>
            </a:r>
            <a:r>
              <a:rPr lang="en-US" dirty="0" err="1" smtClean="0"/>
              <a:t>реализацию</a:t>
            </a:r>
            <a:r>
              <a:rPr lang="en-US" dirty="0" smtClean="0"/>
              <a:t> </a:t>
            </a:r>
            <a:r>
              <a:rPr lang="en-US" dirty="0" err="1" smtClean="0"/>
              <a:t>систем</a:t>
            </a:r>
            <a:r>
              <a:rPr lang="en-US" dirty="0" smtClean="0"/>
              <a:t> </a:t>
            </a:r>
            <a:r>
              <a:rPr lang="en-US" dirty="0" err="1" smtClean="0"/>
              <a:t>взаимодействия</a:t>
            </a:r>
            <a:r>
              <a:rPr lang="en-US" dirty="0" smtClean="0"/>
              <a:t> </a:t>
            </a:r>
            <a:r>
              <a:rPr lang="en-US" dirty="0" err="1" smtClean="0"/>
              <a:t>персонажа</a:t>
            </a:r>
            <a:r>
              <a:rPr lang="en-US" dirty="0" smtClean="0"/>
              <a:t> с </a:t>
            </a:r>
            <a:r>
              <a:rPr lang="en-US" dirty="0" err="1" smtClean="0"/>
              <a:t>окружением</a:t>
            </a:r>
            <a:r>
              <a:rPr lang="en-US" dirty="0" smtClean="0"/>
              <a:t>.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56303"/>
            <a:ext cx="10289459" cy="10668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Общие сведения о проделанной работе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609601" y="2249424"/>
            <a:ext cx="10377948" cy="4325112"/>
          </a:xfrm>
        </p:spPr>
        <p:txBody>
          <a:bodyPr>
            <a:normAutofit/>
          </a:bodyPr>
          <a:lstStyle/>
          <a:p>
            <a:pPr lvl="0"/>
            <a:r>
              <a:rPr lang="ru-RU" dirty="0" smtClean="0"/>
              <a:t>Реализация ядровых механик. Настроить 2D-проект в </a:t>
            </a:r>
            <a:r>
              <a:rPr lang="ru-RU" dirty="0" err="1" smtClean="0"/>
              <a:t>Unity</a:t>
            </a:r>
            <a:r>
              <a:rPr lang="ru-RU" dirty="0" smtClean="0"/>
              <a:t>, реализовать управление персонажем (движение, прыжки, атаки), настроить камеру, следующую за игроком.</a:t>
            </a:r>
          </a:p>
          <a:p>
            <a:pPr lvl="0"/>
            <a:r>
              <a:rPr lang="ru-RU" dirty="0" smtClean="0"/>
              <a:t>Создание системы уровней. Создание связанной карты, настройка перехода между локациями, дизайн уровней.</a:t>
            </a:r>
          </a:p>
          <a:p>
            <a:pPr lvl="0"/>
            <a:r>
              <a:rPr lang="ru-RU" dirty="0" smtClean="0"/>
              <a:t>Реализация </a:t>
            </a:r>
            <a:r>
              <a:rPr lang="ru-RU" dirty="0" err="1" smtClean="0"/>
              <a:t>ИИ-противников</a:t>
            </a:r>
            <a:r>
              <a:rPr lang="ru-RU" dirty="0" smtClean="0"/>
              <a:t>. Создать несколько типов врагов, использующих оптимальные маршруты для преследования игрока (интеграция с </a:t>
            </a:r>
            <a:r>
              <a:rPr lang="en-US" dirty="0" smtClean="0"/>
              <a:t>A</a:t>
            </a:r>
            <a:r>
              <a:rPr lang="ru-RU" dirty="0" smtClean="0"/>
              <a:t>* </a:t>
            </a:r>
            <a:r>
              <a:rPr lang="en-US" dirty="0" err="1" smtClean="0"/>
              <a:t>Pathfinding</a:t>
            </a:r>
            <a:r>
              <a:rPr lang="en-US" dirty="0" smtClean="0"/>
              <a:t> Project</a:t>
            </a:r>
            <a:r>
              <a:rPr lang="ru-RU" dirty="0" smtClean="0"/>
              <a:t>).</a:t>
            </a:r>
          </a:p>
          <a:p>
            <a:pPr lvl="0"/>
            <a:r>
              <a:rPr lang="ru-RU" dirty="0" smtClean="0"/>
              <a:t>Протестировать продукт и подготовить отчет и </a:t>
            </a:r>
            <a:r>
              <a:rPr lang="ru-RU" dirty="0" err="1" smtClean="0"/>
              <a:t>видеопрезентацию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56303"/>
            <a:ext cx="10289459" cy="10668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Общие сведения о проделанной работе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609600" y="2249426"/>
            <a:ext cx="10289459" cy="4018641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Для разработки проекта был выбран игровой движок </a:t>
            </a:r>
            <a:r>
              <a:rPr lang="en-US" dirty="0" smtClean="0"/>
              <a:t>Unity</a:t>
            </a:r>
            <a:r>
              <a:rPr lang="ru-RU" dirty="0" smtClean="0"/>
              <a:t>, так как он обладает широкими возможностями для создания 2</a:t>
            </a:r>
            <a:r>
              <a:rPr lang="en-US" dirty="0" smtClean="0"/>
              <a:t>D</a:t>
            </a:r>
            <a:r>
              <a:rPr lang="ru-RU" dirty="0" smtClean="0"/>
              <a:t> игр, предоставляет удобные инструменты визуального редактирования и поддерживает </a:t>
            </a:r>
            <a:r>
              <a:rPr lang="ru-RU" dirty="0" err="1" smtClean="0"/>
              <a:t>кроссплатформенный</a:t>
            </a:r>
            <a:r>
              <a:rPr lang="ru-RU" dirty="0" smtClean="0"/>
              <a:t> экспорт. Для реализации искусственного интеллекта врагов использован </a:t>
            </a:r>
            <a:r>
              <a:rPr lang="en-US" dirty="0" smtClean="0"/>
              <a:t>A</a:t>
            </a:r>
            <a:r>
              <a:rPr lang="ru-RU" dirty="0" smtClean="0"/>
              <a:t>* </a:t>
            </a:r>
            <a:r>
              <a:rPr lang="en-US" dirty="0" err="1" smtClean="0"/>
              <a:t>Pathfinding</a:t>
            </a:r>
            <a:r>
              <a:rPr lang="en-US" dirty="0" smtClean="0"/>
              <a:t> Project</a:t>
            </a:r>
            <a:r>
              <a:rPr lang="ru-RU" dirty="0" smtClean="0"/>
              <a:t> — популярная и оптимизированная библиотека, позволяющая эффективно рассчитывать траектории движения в двухмерном пространстве.</a:t>
            </a:r>
          </a:p>
          <a:p>
            <a:r>
              <a:rPr lang="ru-RU" dirty="0" smtClean="0"/>
              <a:t>	В качестве среды разработки использовались </a:t>
            </a:r>
            <a:r>
              <a:rPr lang="en-US" dirty="0" smtClean="0"/>
              <a:t>Unity Editor</a:t>
            </a:r>
            <a:r>
              <a:rPr lang="ru-RU" dirty="0" smtClean="0"/>
              <a:t> в сочетании с </a:t>
            </a:r>
            <a:r>
              <a:rPr lang="en-US" dirty="0" smtClean="0"/>
              <a:t>Visual Studio Code </a:t>
            </a:r>
            <a:r>
              <a:rPr lang="ru-RU" dirty="0" smtClean="0"/>
              <a:t>для написания </a:t>
            </a:r>
            <a:r>
              <a:rPr lang="ru-RU" dirty="0" err="1" smtClean="0"/>
              <a:t>скриптов</a:t>
            </a:r>
            <a:r>
              <a:rPr lang="ru-RU" dirty="0" smtClean="0"/>
              <a:t>. Язык программирования </a:t>
            </a:r>
            <a:r>
              <a:rPr lang="en-US" dirty="0" smtClean="0"/>
              <a:t>C</a:t>
            </a:r>
            <a:r>
              <a:rPr lang="ru-RU" dirty="0" smtClean="0"/>
              <a:t>#, который интегрирован в движок и широко применяется в индустрии для создания игр.	</a:t>
            </a:r>
          </a:p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56303"/>
            <a:ext cx="10289459" cy="10668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Общие сведения о проделанной работе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476864" y="2028198"/>
            <a:ext cx="10289459" cy="4325112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	Разработка началась с проектирования базовой механики передвижения главного героя и создания простых игровых уровней. После этого была реализована система поиска пути для врагов с помощью алгоритма </a:t>
            </a:r>
            <a:r>
              <a:rPr lang="en-US" dirty="0" smtClean="0"/>
              <a:t>A</a:t>
            </a:r>
            <a:r>
              <a:rPr lang="ru-RU" dirty="0" smtClean="0"/>
              <a:t>*, что позволило создать динамичное и адаптивное поведение противников. Далее проведены многократные тестирования для выявления ошибок и улучшения работы алгоритмов поиска пути.</a:t>
            </a:r>
          </a:p>
          <a:p>
            <a:r>
              <a:rPr lang="ru-RU" dirty="0" smtClean="0"/>
              <a:t>	Результаты испытаний показали, что интеграция A* </a:t>
            </a:r>
            <a:r>
              <a:rPr lang="ru-RU" dirty="0" err="1" smtClean="0"/>
              <a:t>Pathfinding</a:t>
            </a:r>
            <a:r>
              <a:rPr lang="ru-RU" dirty="0" smtClean="0"/>
              <a:t> </a:t>
            </a:r>
            <a:r>
              <a:rPr lang="ru-RU" dirty="0" err="1" smtClean="0"/>
              <a:t>Project</a:t>
            </a:r>
            <a:r>
              <a:rPr lang="ru-RU" dirty="0" smtClean="0"/>
              <a:t> значительно повышает качество взаимодействия NPC с окружением и делает игровой процесс более интересным и сложным. Остаются возможности для дальнейшей оптимизации и расширения функционала, такие как добавление новых типов врагов и улучшение системы </a:t>
            </a:r>
            <a:r>
              <a:rPr lang="ru-RU" dirty="0" err="1" smtClean="0"/>
              <a:t>анимаций</a:t>
            </a:r>
            <a:r>
              <a:rPr lang="ru-RU" dirty="0" smtClean="0"/>
              <a:t>.</a:t>
            </a:r>
          </a:p>
          <a:p>
            <a:r>
              <a:rPr lang="ru-RU" dirty="0" smtClean="0"/>
              <a:t>	В перспективе проект может быть доработан с добавлением более сложных игровых механик, расширением уровней и интеграцией дополнительных средств искусственного интеллекта, что повысит его привлекательность и глубину игрового процесса.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Общие сведения о проделанной работе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В ходе выполнения проекта была успешно создана связная система уровней, обеспечивающая плавный и логичный переход между различными участками игрового мира (осуществлено посредством специального класса объектов </a:t>
            </a:r>
            <a:r>
              <a:rPr lang="en-US" dirty="0" err="1" smtClean="0"/>
              <a:t>Interactable</a:t>
            </a:r>
            <a:r>
              <a:rPr lang="ru-RU" dirty="0" smtClean="0"/>
              <a:t>). Интеграция библиотеки A* </a:t>
            </a:r>
            <a:r>
              <a:rPr lang="ru-RU" dirty="0" err="1" smtClean="0"/>
              <a:t>Pathfinding</a:t>
            </a:r>
            <a:r>
              <a:rPr lang="ru-RU" dirty="0" smtClean="0"/>
              <a:t> </a:t>
            </a:r>
            <a:r>
              <a:rPr lang="ru-RU" dirty="0" err="1" smtClean="0"/>
              <a:t>Project</a:t>
            </a:r>
            <a:r>
              <a:rPr lang="ru-RU" dirty="0" smtClean="0"/>
              <a:t> позволила реализовать эффективный и адаптивный поиск пути для врагов (в том числе прыжки), что значительно повысило сложность игрового процесса. Были подобраны и внедрены разнообразные бонусы (в виде аптечек и денежных мешков), способствующие улучшению взаимодействия игрока с игрой и стимулирующие исследование уровней. Для хранения информации об игровой сессии использовался </a:t>
            </a:r>
            <a:r>
              <a:rPr lang="ru-RU" dirty="0" err="1" smtClean="0"/>
              <a:t>staticHolder</a:t>
            </a:r>
            <a:r>
              <a:rPr lang="ru-RU" dirty="0" smtClean="0"/>
              <a:t> (статическая библиотека), что обеспечило сохранение состояния между сценами, удобство управления данными и их пригодность для быстрого сохранения.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 l="36538" r="4968" b="45970"/>
          <a:stretch>
            <a:fillRect/>
          </a:stretch>
        </p:blipFill>
        <p:spPr bwMode="auto">
          <a:xfrm>
            <a:off x="6148305" y="3760530"/>
            <a:ext cx="5075219" cy="286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/>
          <p:cNvPicPr/>
          <p:nvPr/>
        </p:nvPicPr>
        <p:blipFill>
          <a:blip r:embed="rId3"/>
          <a:srcRect l="34776" t="20242" r="25618" b="30151"/>
          <a:stretch>
            <a:fillRect/>
          </a:stretch>
        </p:blipFill>
        <p:spPr bwMode="auto">
          <a:xfrm>
            <a:off x="6128720" y="693174"/>
            <a:ext cx="4947317" cy="300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Общие сведения о проделанной работе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idx="2"/>
          </p:nvPr>
        </p:nvSpPr>
        <p:spPr>
          <a:xfrm>
            <a:off x="914399" y="1676400"/>
            <a:ext cx="4365523" cy="4572000"/>
          </a:xfrm>
        </p:spPr>
        <p:txBody>
          <a:bodyPr>
            <a:normAutofit/>
          </a:bodyPr>
          <a:lstStyle/>
          <a:p>
            <a:r>
              <a:rPr lang="ru-RU" dirty="0" smtClean="0"/>
              <a:t>Механика стрельбы была реализована с ограничением направления — строго вправо или влево, что упростило управление и соответствовало жанровым особенностям </a:t>
            </a:r>
            <a:r>
              <a:rPr lang="ru-RU" dirty="0" err="1" smtClean="0"/>
              <a:t>платформера</a:t>
            </a:r>
            <a:r>
              <a:rPr lang="ru-RU" dirty="0" smtClean="0"/>
              <a:t>. Также была внедрена в простом виде система покупки боеприпасов, добавляющая элемент экономического планирования и стратегического выбора для игрока. В процессе тестирования было выявлено, что данные механики работают стабильно и гармонично дополняют игровой процесс, однако еще многое предстоит сделать. В перспективе проект можно развивать, добавляя новые типы врагов, расширяя список локаций и улучшая ИИ.</a:t>
            </a: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45567" t="29234" r="46158" b="56452"/>
          <a:stretch>
            <a:fillRect/>
          </a:stretch>
        </p:blipFill>
        <p:spPr bwMode="auto">
          <a:xfrm>
            <a:off x="5604389" y="1150374"/>
            <a:ext cx="2122935" cy="2064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 l="43981" t="42540" r="11245" b="9677"/>
          <a:stretch>
            <a:fillRect/>
          </a:stretch>
        </p:blipFill>
        <p:spPr bwMode="auto">
          <a:xfrm>
            <a:off x="6091084" y="3465875"/>
            <a:ext cx="5309420" cy="3185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Рисунок 10"/>
          <p:cNvPicPr/>
          <p:nvPr/>
        </p:nvPicPr>
        <p:blipFill>
          <a:blip r:embed="rId4"/>
          <a:srcRect l="36874" t="27723" r="35326" b="37920"/>
          <a:stretch>
            <a:fillRect/>
          </a:stretch>
        </p:blipFill>
        <p:spPr bwMode="auto">
          <a:xfrm>
            <a:off x="8008375" y="1091382"/>
            <a:ext cx="3628104" cy="2241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56303"/>
            <a:ext cx="10289459" cy="1066800"/>
          </a:xfrm>
        </p:spPr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Результаты проекта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476864" y="2028198"/>
            <a:ext cx="10289459" cy="4325112"/>
          </a:xfrm>
        </p:spPr>
        <p:txBody>
          <a:bodyPr>
            <a:normAutofit/>
          </a:bodyPr>
          <a:lstStyle/>
          <a:p>
            <a:r>
              <a:rPr lang="ru-RU" dirty="0" smtClean="0"/>
              <a:t>Создана демо-версия игры, в которой реализованы все основные механики.</a:t>
            </a:r>
          </a:p>
          <a:p>
            <a:r>
              <a:rPr lang="ru-RU" dirty="0" smtClean="0"/>
              <a:t>В полной версии игры будут добавлены новые локации и </a:t>
            </a:r>
            <a:r>
              <a:rPr lang="en-US" dirty="0" smtClean="0"/>
              <a:t>NPC.</a:t>
            </a:r>
            <a:endParaRPr lang="ru-RU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2180</TotalTime>
  <Words>569</Words>
  <Application>Microsoft Office PowerPoint</Application>
  <PresentationFormat>Произвольный</PresentationFormat>
  <Paragraphs>35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Поток</vt:lpstr>
      <vt:lpstr>Слайд 1</vt:lpstr>
      <vt:lpstr>Цель проекта</vt:lpstr>
      <vt:lpstr>Задачи проекта</vt:lpstr>
      <vt:lpstr>Актуальность проекта</vt:lpstr>
      <vt:lpstr>Востребованность проекта</vt:lpstr>
      <vt:lpstr>Общие сведения о проделанной работе</vt:lpstr>
      <vt:lpstr>Общие сведения о проделанной работе</vt:lpstr>
      <vt:lpstr>Общие сведения о проделанной работе</vt:lpstr>
      <vt:lpstr>Общие сведения о проделанной работе</vt:lpstr>
      <vt:lpstr>Общие сведения о проделанной работе</vt:lpstr>
      <vt:lpstr>Результаты проекта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</dc:title>
  <dc:creator>User Obstinate</dc:creator>
  <cp:lastModifiedBy>qwops</cp:lastModifiedBy>
  <cp:revision>64</cp:revision>
  <dcterms:created xsi:type="dcterms:W3CDTF">2021-05-04T06:37:33Z</dcterms:created>
  <dcterms:modified xsi:type="dcterms:W3CDTF">2025-06-26T19:53:33Z</dcterms:modified>
</cp:coreProperties>
</file>